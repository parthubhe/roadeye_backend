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77" r:id="rId16"/>
    <p:sldId id="27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5" d="100"/>
          <a:sy n="45" d="100"/>
        </p:scale>
        <p:origin x="1090" y="-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713232"/>
            <a:ext cx="101498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700" b="1">
                <a:solidFill>
                  <a:srgbClr val="262A30"/>
                </a:solidFill>
                <a:latin typeface="Aptos"/>
              </a:defRPr>
            </a:pPr>
            <a:r>
              <a:t>Pipeline Inspection Mobile Robot for AI-enabled Crowd Management and Smart City Infrastructure Monitoring System</a:t>
            </a:r>
          </a:p>
        </p:txBody>
      </p:sp>
      <p:pic>
        <p:nvPicPr>
          <p:cNvPr id="3" name="Picture 2" descr="symbiosi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409" y="2103120"/>
            <a:ext cx="122870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3858768"/>
            <a:ext cx="8869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262A30"/>
                </a:solidFill>
                <a:latin typeface="Aptos"/>
              </a:defRPr>
            </a:pPr>
            <a:r>
              <a:t>B.Tech project · Robotics and Automation / AI &amp;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634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262A30"/>
                </a:solidFill>
                <a:latin typeface="Aptos"/>
              </a:defRPr>
            </a:pPr>
            <a:r>
              <a:t>Aryan Sil  ·  Ashmit Katale  ·  Priyansh Pacheriwala  ·  Parth Ubhe  ·  Rajat Dwivedi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559612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262A30"/>
                </a:solidFill>
                <a:latin typeface="Aptos"/>
              </a:defRPr>
            </a:pPr>
            <a:r>
              <a:t>Symbiosis Institute of Technology, Pune  ·  2026–27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t>Why inspect sewers with a robot?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62A30"/>
                </a:solidFill>
                <a:latin typeface="Aptos"/>
              </a:defRPr>
            </a:pPr>
            <a:r>
              <a:t>•  Manual CCTV review is slow and exposes personnel to hazardous environments.</a:t>
            </a:r>
          </a:p>
          <a:p>
            <a:pPr>
              <a:spcAft>
                <a:spcPts val="1600"/>
              </a:spcAft>
              <a:defRPr sz="2300">
                <a:solidFill>
                  <a:srgbClr val="262A30"/>
                </a:solidFill>
                <a:latin typeface="Aptos"/>
              </a:defRPr>
            </a:pPr>
            <a:r>
              <a:t>•  Low light, blur and repetitive pipe texture make subtle defects hard to localize.</a:t>
            </a:r>
          </a:p>
          <a:p>
            <a:pPr>
              <a:spcAft>
                <a:spcPts val="1600"/>
              </a:spcAft>
              <a:defRPr sz="2300">
                <a:solidFill>
                  <a:srgbClr val="262A30"/>
                </a:solidFill>
                <a:latin typeface="Aptos"/>
              </a:defRPr>
            </a:pPr>
            <a:r>
              <a:t>•  The project joins a mobile camera platform, remote inference and a five-class detector.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t>Research questions and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62A30"/>
                </a:solidFill>
                <a:latin typeface="Aptos"/>
              </a:defRPr>
            </a:pPr>
            <a:r>
              <a:t>•  Can a compact four-wheel platform obtain useful pipe-view footage?</a:t>
            </a:r>
          </a:p>
          <a:p>
            <a:pPr>
              <a:spcAft>
                <a:spcPts val="1600"/>
              </a:spcAft>
              <a:defRPr sz="2100">
                <a:solidFill>
                  <a:srgbClr val="262A30"/>
                </a:solidFill>
                <a:latin typeface="Aptos"/>
              </a:defRPr>
            </a:pPr>
            <a:r>
              <a:t>•  Can five frequent defect types be localized reliably on unseen inspection images?</a:t>
            </a:r>
          </a:p>
          <a:p>
            <a:pPr>
              <a:spcAft>
                <a:spcPts val="1600"/>
              </a:spcAft>
              <a:defRPr sz="2100">
                <a:solidFill>
                  <a:srgbClr val="262A30"/>
                </a:solidFill>
                <a:latin typeface="Aptos"/>
              </a:defRPr>
            </a:pPr>
            <a:r>
              <a:t>•  Do CLAHE or attention modules improve a controlled YOLO baseline?</a:t>
            </a:r>
          </a:p>
          <a:p>
            <a:pPr>
              <a:spcAft>
                <a:spcPts val="1600"/>
              </a:spcAft>
              <a:defRPr sz="2100">
                <a:solidFill>
                  <a:srgbClr val="262A30"/>
                </a:solidFill>
                <a:latin typeface="Aptos"/>
              </a:defRPr>
            </a:pPr>
            <a:r>
              <a:t>•  Build the prototype, compare detectors and expose image/video/live inference.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t>What prior work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261872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Study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mAP@50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mAP@50:95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Context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Huang et al.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YOLOv5s + involution/GSConv/CBAM/distillation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80.5%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48.7%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Six classes; 75 FPS reported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Sha et al.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Lightweight YOLOv8 cross-scale fusion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83.6%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Different dataset; 1.95 M parameters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Hu et al.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SAW-YOLOv8l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86.2%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69.0%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Mixed Sewer-ML/industrial images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Automatic Detection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YOLOv4 + SPP + DIoU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92.3%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2,700 images; four classes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806440"/>
            <a:ext cx="106984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B626A"/>
                </a:solidFill>
                <a:latin typeface="Aptos"/>
              </a:defRPr>
            </a:pPr>
            <a:r>
              <a:rPr dirty="0"/>
              <a:t>Our RF-DETR: 89.04% test </a:t>
            </a:r>
            <a:r>
              <a:rPr lang="en-US" dirty="0"/>
              <a:t>[over 90% on train set] </a:t>
            </a:r>
            <a:r>
              <a:rPr dirty="0"/>
              <a:t>mAP@50, 73.85% test mAP@50:95 on v5. It exceeds some reported scores numerically, not in a matched benchmark; the YOLOv4 paper reports 92.3% on a different four-class 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t>System concept and current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4" name="Picture 3" descr="proposed_system_architectur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560" y="1143000"/>
            <a:ext cx="3526238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06440" y="137160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262A30"/>
                </a:solidFill>
                <a:latin typeface="Aptos"/>
              </a:defRPr>
            </a:pPr>
            <a:r>
              <a:t>•  Proposed: locomotion → sensing/video → wireless link → AI detection → display/report.</a:t>
            </a:r>
          </a:p>
          <a:p>
            <a:pPr>
              <a:spcAft>
                <a:spcPts val="1600"/>
              </a:spcAft>
              <a:defRPr sz="1700">
                <a:solidFill>
                  <a:srgbClr val="262A30"/>
                </a:solidFill>
                <a:latin typeface="Aptos"/>
              </a:defRPr>
            </a:pPr>
            <a:r>
              <a:t>•  Implemented software: FastAPI image, video and live-camera inference with model selection.</a:t>
            </a:r>
          </a:p>
          <a:p>
            <a:pPr>
              <a:spcAft>
                <a:spcPts val="1600"/>
              </a:spcAft>
              <a:defRPr sz="1700">
                <a:solidFill>
                  <a:srgbClr val="262A30"/>
                </a:solidFill>
                <a:latin typeface="Aptos"/>
              </a:defRPr>
            </a:pPr>
            <a:r>
              <a:t>•  Robot-to-server field FPS and autonomous navigation remain unverified.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t>Built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4" name="Picture 3" descr="robot_prototyp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6583680" cy="3941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53312"/>
            <a:ext cx="4114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262A30"/>
                </a:solidFill>
                <a:latin typeface="Aptos"/>
              </a:defRPr>
            </a:pPr>
            <a:r>
              <a:t>•  Four-wheel chassis with geared-drive concept.</a:t>
            </a:r>
          </a:p>
          <a:p>
            <a:pPr>
              <a:spcAft>
                <a:spcPts val="1600"/>
              </a:spcAft>
              <a:defRPr sz="1700">
                <a:solidFill>
                  <a:srgbClr val="262A30"/>
                </a:solidFill>
                <a:latin typeface="Aptos"/>
              </a:defRPr>
            </a:pPr>
            <a:r>
              <a:t>•  Initial design includes controller, ultrasonic sensing and camera stream.</a:t>
            </a:r>
          </a:p>
          <a:p>
            <a:pPr>
              <a:spcAft>
                <a:spcPts val="1600"/>
              </a:spcAft>
              <a:defRPr sz="1700">
                <a:solidFill>
                  <a:srgbClr val="262A30"/>
                </a:solidFill>
                <a:latin typeface="Aptos"/>
              </a:defRPr>
            </a:pPr>
            <a:r>
              <a:t>•  Approximate materials budget: ₹13,750.</a:t>
            </a:r>
          </a:p>
          <a:p>
            <a:pPr>
              <a:spcAft>
                <a:spcPts val="1600"/>
              </a:spcAft>
              <a:defRPr sz="1700">
                <a:solidFill>
                  <a:srgbClr val="262A30"/>
                </a:solidFill>
                <a:latin typeface="Aptos"/>
              </a:defRPr>
            </a:pPr>
            <a:r>
              <a:t>•  Battery/runtime values in the proposal are estimates, not measurements.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t>Power budget: design estimate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261872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Quantity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Source assumption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Estimated value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Drive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4 × 12 V, 100 RPM geared motors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27 kg·cm ≈ 2.65 N·m each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Speed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ω = 2πN/60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10.47 rad/s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Mechanical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P = τω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27.7 W/motor; 110.8 W total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Electrical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80% efficiency assumed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138.5 W ≈ 12.48 A at 11.1 V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Battery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11.1 V, 5,000 mAh, 3C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15 A nominal continuous rating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rPr dirty="0"/>
              <a:t>Dataset</a:t>
            </a:r>
            <a:r>
              <a:rPr lang="en-US" dirty="0"/>
              <a:t> Experimentation and </a:t>
            </a:r>
            <a:r>
              <a:rPr dirty="0"/>
              <a:t> </a:t>
            </a:r>
            <a:r>
              <a:rPr lang="en-US" dirty="0"/>
              <a:t>E</a:t>
            </a:r>
            <a:r>
              <a:rPr dirty="0"/>
              <a:t>volution: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261872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Version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Decision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Research effect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v2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Common five-class taxonomy; group-aware split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Reduced adjacent-frame leakage risk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v3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Broader CCTV + close-up mixture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Exposed domain mismatch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v4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Separated CCTV and close-up; tested CLAHE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Isolated viewpoint/contrast effects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v5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Restored v2-style group split; excluded close-up domains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CCTV-focused 9,486 / 2,014 / 1,986 split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rPr lang="en-US" dirty="0"/>
              <a:t>Model Inference Samples [</a:t>
            </a:r>
            <a:r>
              <a:rPr dirty="0"/>
              <a:t>Five detection classes</a:t>
            </a:r>
            <a:r>
              <a:rPr lang="en-US" dirty="0"/>
              <a:t>]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4" name="Picture 3" descr="example_cr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172" y="1371600"/>
            <a:ext cx="1490472" cy="1490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2907791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62A30"/>
                </a:solidFill>
                <a:latin typeface="Aptos"/>
              </a:defRPr>
            </a:pPr>
            <a:r>
              <a:t>crack</a:t>
            </a:r>
          </a:p>
        </p:txBody>
      </p:sp>
      <p:pic>
        <p:nvPicPr>
          <p:cNvPr id="6" name="Picture 5" descr="example_corrosion_ru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896" y="1371600"/>
            <a:ext cx="2649727" cy="1490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17720" y="2907791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62A30"/>
                </a:solidFill>
                <a:latin typeface="Aptos"/>
              </a:defRPr>
            </a:pPr>
            <a:r>
              <a:t>corrosion rust</a:t>
            </a:r>
          </a:p>
        </p:txBody>
      </p:sp>
      <p:pic>
        <p:nvPicPr>
          <p:cNvPr id="8" name="Picture 7" descr="example_sediment_deposi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4876" y="1371600"/>
            <a:ext cx="1490472" cy="14904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7072" y="2907791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62A30"/>
                </a:solidFill>
                <a:latin typeface="Aptos"/>
              </a:defRPr>
            </a:pPr>
            <a:r>
              <a:t>sediment deposit</a:t>
            </a:r>
          </a:p>
        </p:txBody>
      </p:sp>
      <p:pic>
        <p:nvPicPr>
          <p:cNvPr id="10" name="Picture 9" descr="example_root_intrusio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0792" y="3657600"/>
            <a:ext cx="2649727" cy="1490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42616" y="519379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62A30"/>
                </a:solidFill>
                <a:latin typeface="Aptos"/>
              </a:defRPr>
            </a:pPr>
            <a:r>
              <a:t>root intrusion</a:t>
            </a:r>
          </a:p>
        </p:txBody>
      </p:sp>
      <p:pic>
        <p:nvPicPr>
          <p:cNvPr id="12" name="Picture 11" descr="example_joint_defec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9771" y="3657600"/>
            <a:ext cx="1490472" cy="1490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01968" y="519379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62A30"/>
                </a:solidFill>
                <a:latin typeface="Aptos"/>
              </a:defRPr>
            </a:pPr>
            <a:r>
              <a:t>joint defect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217920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B626A"/>
                </a:solidFill>
                <a:latin typeface="Aptos"/>
              </a:defRPr>
            </a:pPr>
            <a:r>
              <a:t>Red boxes are ground truth, not predictions. One test image per class.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t>Preprocessing and experimental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62A30"/>
                </a:solidFill>
                <a:latin typeface="Aptos"/>
              </a:defRPr>
            </a:pPr>
            <a:r>
              <a:t>•  Normal v5 and offline CLAHE v5 share image/label identities; CLAHE adjusts Lab luminance (clip 2.0, 8×8 grid).</a:t>
            </a:r>
          </a:p>
          <a:p>
            <a:pPr>
              <a:spcAft>
                <a:spcPts val="1600"/>
              </a:spcAft>
              <a:defRPr sz="1900">
                <a:solidFill>
                  <a:srgbClr val="262A30"/>
                </a:solidFill>
                <a:latin typeface="Aptos"/>
              </a:defRPr>
            </a:pPr>
            <a:r>
              <a:t>•  YOLO26s: 640 px, 80 epochs, AdamW, cosine schedule, seed 0; HSV/translate/scale/flip/mosaic, final ten epochs without mosaic.</a:t>
            </a:r>
          </a:p>
          <a:p>
            <a:pPr>
              <a:spcAft>
                <a:spcPts val="1600"/>
              </a:spcAft>
              <a:defRPr sz="1900">
                <a:solidFill>
                  <a:srgbClr val="262A30"/>
                </a:solidFill>
                <a:latin typeface="Aptos"/>
              </a:defRPr>
            </a:pPr>
            <a:r>
              <a:t>•  RF-DETR Nano: 512 px, 50 total epochs, effective batch 16 with accumulation.</a:t>
            </a:r>
          </a:p>
          <a:p>
            <a:pPr>
              <a:spcAft>
                <a:spcPts val="1600"/>
              </a:spcAft>
              <a:defRPr sz="1900">
                <a:solidFill>
                  <a:srgbClr val="262A30"/>
                </a:solidFill>
                <a:latin typeface="Aptos"/>
              </a:defRPr>
            </a:pPr>
            <a:r>
              <a:t>•  Held-out test remains unchanged; model-selected deletion is not a valid benchmark.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t>Models actually evaluated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 YOLO26s baseline, SimAM, CBAM, SE, parallel SimAM+CBAM+SE.</a:t>
            </a:r>
          </a:p>
          <a:p>
            <a:pPr>
              <a:spcAft>
                <a:spcPts val="16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 E3: P2 head + weighted PAN fusion. E5: directional residual P3 block.</a:t>
            </a:r>
          </a:p>
          <a:p>
            <a:pPr>
              <a:spcAft>
                <a:spcPts val="16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 RF-DETR Nano: 40 and 50 total epochs. E6 ended at epoch 5 with OOM.</a:t>
            </a:r>
          </a:p>
          <a:p>
            <a:pPr>
              <a:spcAft>
                <a:spcPts val="16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 Original YOLO11 baseline/CBAM/SimAM/combined curves are historical; checkpoints and exact metrics are unavailable, so no scores are fabricated.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t>Completed model comparison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4" name="Picture 3" descr="all_completed_models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31" y="1051560"/>
            <a:ext cx="10871512" cy="50474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rPr dirty="0"/>
              <a:t>Top </a:t>
            </a:r>
            <a:r>
              <a:rPr lang="en-US" dirty="0"/>
              <a:t>Trained M</a:t>
            </a:r>
            <a:r>
              <a:rPr dirty="0"/>
              <a:t>odel</a:t>
            </a:r>
            <a:r>
              <a:rPr lang="en-US" dirty="0"/>
              <a:t> List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698419"/>
              </p:ext>
            </p:extLst>
          </p:nvPr>
        </p:nvGraphicFramePr>
        <p:xfrm>
          <a:off x="594360" y="1261872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mAP@50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mAP@50:95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RF-DETR Nano, 50e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normal / 512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86.34%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83.89%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89.04%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73.85%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YOLO26s baseline, 80e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normal / 640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81.44%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74.42%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82.14%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65.05%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rPr dirty="0"/>
                        <a:t>YOLO26s E3</a:t>
                      </a:r>
                      <a:r>
                        <a:rPr lang="en-US" dirty="0"/>
                        <a:t>[P2 head weighted fusion]</a:t>
                      </a:r>
                      <a:r>
                        <a:rPr dirty="0"/>
                        <a:t>, 80e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normal / 640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78.40%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74.66%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80.78%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63.83%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YOLO26s + CBAM, 80e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CLAHE / 640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78.50%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74.24%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81.55%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rPr dirty="0"/>
                        <a:t>62.50%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4088" y="585216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B626A"/>
                </a:solidFill>
                <a:latin typeface="Aptos"/>
              </a:defRPr>
            </a:pPr>
            <a:r>
              <a:t>RF-DETR reaches 90.65% on validation, but 89.04% on held-out test. Cross-family evaluator/input differences remain.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262A30"/>
                </a:solidFill>
                <a:latin typeface="Aptos"/>
              </a:defRPr>
            </a:pPr>
            <a:r>
              <a:t>Web UI · image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4" name="Picture 3" descr="webui_image_in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59055"/>
            <a:ext cx="8275320" cy="42575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79407" y="1417320"/>
            <a:ext cx="2992459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62A30"/>
                </a:solidFill>
                <a:latin typeface="Aptos"/>
              </a:defRPr>
            </a:pPr>
            <a:r>
              <a:rPr dirty="0"/>
              <a:t>•  Choose a local model and confidence threshold.</a:t>
            </a:r>
          </a:p>
          <a:p>
            <a:pPr>
              <a:spcAft>
                <a:spcPts val="1500"/>
              </a:spcAft>
              <a:defRPr sz="1600">
                <a:solidFill>
                  <a:srgbClr val="262A30"/>
                </a:solidFill>
                <a:latin typeface="Aptos"/>
              </a:defRPr>
            </a:pPr>
            <a:r>
              <a:rPr dirty="0"/>
              <a:t>•  Drop an image or select one of five test examples.</a:t>
            </a:r>
          </a:p>
          <a:p>
            <a:pPr>
              <a:spcAft>
                <a:spcPts val="1500"/>
              </a:spcAft>
              <a:defRPr sz="1600">
                <a:solidFill>
                  <a:srgbClr val="262A30"/>
                </a:solidFill>
                <a:latin typeface="Aptos"/>
              </a:defRPr>
            </a:pPr>
            <a:r>
              <a:rPr dirty="0"/>
              <a:t>•  Review annotated boxes, counts and model latency; download the result.</a:t>
            </a:r>
            <a:endParaRPr lang="en-US" dirty="0"/>
          </a:p>
          <a:p>
            <a:pPr>
              <a:spcAft>
                <a:spcPts val="1500"/>
              </a:spcAft>
              <a:defRPr sz="1700">
                <a:solidFill>
                  <a:srgbClr val="262A30"/>
                </a:solidFill>
                <a:latin typeface="Aptos"/>
              </a:defRPr>
            </a:pPr>
            <a:r>
              <a:rPr lang="en-IN" dirty="0"/>
              <a:t>•  Video file upload, frame stride, progress and annotated MP4 download.</a:t>
            </a:r>
          </a:p>
          <a:p>
            <a:pPr>
              <a:spcAft>
                <a:spcPts val="1500"/>
              </a:spcAft>
              <a:defRPr sz="1700">
                <a:solidFill>
                  <a:srgbClr val="262A30"/>
                </a:solidFill>
                <a:latin typeface="Aptos"/>
              </a:defRPr>
            </a:pPr>
            <a:r>
              <a:rPr lang="en-IN" dirty="0"/>
              <a:t>•  Browser webcam, USB camera and opt-in RTSP/HTTP stream sources.</a:t>
            </a:r>
          </a:p>
          <a:p>
            <a:pPr>
              <a:spcAft>
                <a:spcPts val="1500"/>
              </a:spcAft>
              <a:defRPr sz="1700">
                <a:solidFill>
                  <a:srgbClr val="262A30"/>
                </a:solidFill>
                <a:latin typeface="Aptos"/>
              </a:defRPr>
            </a:pPr>
            <a:r>
              <a:rPr lang="en-IN" dirty="0"/>
              <a:t>•  Live view reports detections, latency and delivered-frame FPS.</a:t>
            </a:r>
          </a:p>
          <a:p>
            <a:pPr>
              <a:spcAft>
                <a:spcPts val="1500"/>
              </a:spcAft>
              <a:defRPr sz="1600">
                <a:solidFill>
                  <a:srgbClr val="262A30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67512" y="5769864"/>
            <a:ext cx="10881360" cy="356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B626A"/>
                </a:solidFill>
                <a:latin typeface="Aptos"/>
              </a:defRPr>
            </a:pPr>
            <a:r>
              <a:t>Actual local example inference shown. These boxes are predictions, not ground-truth labels.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262A30"/>
                </a:solidFill>
                <a:latin typeface="Aptos"/>
              </a:defRPr>
            </a:pPr>
            <a:r>
              <a:t>Web UI · checkpoint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16</a:t>
            </a:r>
          </a:p>
        </p:txBody>
      </p:sp>
      <p:pic>
        <p:nvPicPr>
          <p:cNvPr id="4" name="Picture 3" descr="webui_model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329921"/>
            <a:ext cx="10908792" cy="44267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" y="5961888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B626A"/>
                </a:solidFill>
                <a:latin typeface="Aptos"/>
              </a:defRPr>
            </a:pPr>
            <a:r>
              <a:t>Local checkpoints are listed with availability, parameter counts and saved validation/test metrics. Different datasets and evaluators are not a head-to-head ranking.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rPr dirty="0"/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A30"/>
                </a:solidFill>
                <a:latin typeface="Aptos"/>
              </a:defRPr>
            </a:pPr>
            <a:r>
              <a:t>Huang et al., Processes 2023 — https://doi.org/10.3390/pr11082508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47672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A30"/>
                </a:solidFill>
                <a:latin typeface="Aptos"/>
              </a:defRPr>
            </a:pPr>
            <a:r>
              <a:t>Sha et al., PLOS ONE 2025 — https://doi.org/10.1371/journal.pone.0330677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60904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A30"/>
                </a:solidFill>
                <a:latin typeface="Aptos"/>
              </a:defRPr>
            </a:pPr>
            <a:r>
              <a:t>Hu et al., Sustainability 2026 — https://doi.org/10.3390/su18083685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74136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A30"/>
                </a:solidFill>
                <a:latin typeface="Aptos"/>
              </a:defRPr>
            </a:pPr>
            <a:r>
              <a:t>Automatic Detection, Appl. Sci. 2023 — https://doi.org/10.3390/app13074589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1047</Words>
  <Application>Microsoft Office PowerPoint</Application>
  <PresentationFormat>Widescreen</PresentationFormat>
  <Paragraphs>165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Parth Ubhe</cp:lastModifiedBy>
  <cp:revision>5</cp:revision>
  <dcterms:created xsi:type="dcterms:W3CDTF">2013-01-27T09:14:16Z</dcterms:created>
  <dcterms:modified xsi:type="dcterms:W3CDTF">2026-10-14T04:26:08Z</dcterms:modified>
  <cp:category/>
</cp:coreProperties>
</file>